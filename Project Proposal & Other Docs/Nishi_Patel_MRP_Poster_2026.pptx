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32918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1555" y="-86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76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1762720" cy="32735520"/>
          </a:xfrm>
          <a:prstGeom prst="rect">
            <a:avLst/>
          </a:prstGeom>
          <a:solidFill>
            <a:srgbClr val="FFFFFF"/>
          </a:solidFill>
          <a:ln w="444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91440" y="90189"/>
            <a:ext cx="21762720" cy="4296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11480" y="318789"/>
            <a:ext cx="310896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49040" y="318789"/>
            <a:ext cx="1773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2025-2026  M.Sc. in Data Science and Analytics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749040" y="913149"/>
            <a:ext cx="1773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Predicting and Explaining Traffic Collision Severity in Toronto</a:t>
            </a:r>
            <a:endParaRPr lang="en-US" sz="4200" dirty="0"/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Using Explainable Machine Learning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11480" y="3701349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Nishi Bhavesh Patel   |   Student ID: 501356244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0" y="3701349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Supervisor: Professor Mucahit Cevik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" y="4985229"/>
            <a:ext cx="21762720" cy="5514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320040" y="5149821"/>
            <a:ext cx="2130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0040" y="5945349"/>
            <a:ext cx="21305520" cy="4325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3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Traffic collisions remain a critical public-safety concern in Toronto, causing hundreds of fatalities and thousands of injuries every year, yet most existing analyses only describe past patterns instead of predicting risk. </a:t>
            </a:r>
            <a:r>
              <a:rPr lang="en-US" sz="23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This project builds an explainable machine-learning pipeline that predicts collision severity</a:t>
            </a:r>
            <a:r>
              <a:rPr lang="en-US" sz="23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- Minor (property damage only), Major (one or more injuries), or Fatal (one or more fatalities) - using </a:t>
            </a:r>
            <a:r>
              <a:rPr lang="en-US" sz="23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677,056 cleaned Toronto collision records (2014–2026)</a:t>
            </a:r>
            <a:r>
              <a:rPr lang="en-US" sz="23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merged with hourly Government of Canada weather data (Station 31688). Five classifiers are trained and compared, five class-balancing strategies address the severe imbalance (Fatal collisions are only 0.1% of records), and </a:t>
            </a:r>
            <a:r>
              <a:rPr lang="en-US" sz="23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SHAP</a:t>
            </a:r>
            <a:r>
              <a:rPr lang="en-US" sz="23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explainability plus </a:t>
            </a:r>
            <a:r>
              <a:rPr lang="en-US" sz="23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DBSCAN geospatial clustering</a:t>
            </a:r>
            <a:r>
              <a:rPr lang="en-US" sz="23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are used to interpret model behaviour and descriptively identify spatial concentrations of Fatal collisions that may support further road-safety investigation.
The goal is not just accuracy: a model that is both accurate and interpretable can tell the City of Toronto not only which collisions are likely to be severe, but </a:t>
            </a:r>
            <a:r>
              <a:rPr lang="en-US" sz="2300" i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why</a:t>
            </a:r>
            <a:r>
              <a:rPr lang="en-US" sz="23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- and where further investigation may be warranted. Every result below (data, models, explanations, and the map of hotspot zones) is built to answer that question.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91440" y="11204160"/>
            <a:ext cx="11072880" cy="10558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0040" y="11368752"/>
            <a:ext cx="1052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0040" y="12164280"/>
            <a:ext cx="10524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9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Because Minor crashes vastly outnumber Fatal ones, a model that just guesses “Minor” every time looks 86% accurate while missing every life-threatening case - exactly the cases road-safety planners most need flagged.
</a:t>
            </a:r>
            <a:r>
              <a:rPr lang="en-US" sz="19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Data sources:  </a:t>
            </a:r>
            <a:r>
              <a:rPr lang="en-US" sz="19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City of Toronto collision records merged, date-hour by date-hour, with Government of Canada hourly weather (temperature, humidity, precipitation) from Station 31688. Invalid GPS records were removed and temporal, weather, and neighbourhood-based features were engineered. Outcome-correlated involvement indicators (pedestrian, cyclist, passenger, motorcycle) identified during the leakage audit were excluded from the final predictive feature set.
</a:t>
            </a:r>
            <a:r>
              <a:rPr lang="en-US" sz="19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Severity class distribution (n = 677,056):</a:t>
            </a:r>
            <a:endParaRPr lang="en-US" sz="1950" dirty="0"/>
          </a:p>
        </p:txBody>
      </p:sp>
      <p:pic>
        <p:nvPicPr>
          <p:cNvPr id="16" name="Image 0" descr="/home/claude/poster/img/seve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464" y="15940074"/>
            <a:ext cx="8419392" cy="495665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0040" y="21033885"/>
            <a:ext cx="1052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44444"/>
                </a:solidFill>
                <a:ea typeface="Calibri" pitchFamily="34" charset="-122"/>
                <a:cs typeface="Calibri" pitchFamily="34" charset="-120"/>
              </a:rPr>
              <a:t>Figure 1. Severity class distribution - Minor 85.7%, Major 14.2%, Fatal 0.1%.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1440" y="22360320"/>
            <a:ext cx="11072880" cy="1046664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6"/>
          <p:cNvSpPr/>
          <p:nvPr/>
        </p:nvSpPr>
        <p:spPr>
          <a:xfrm>
            <a:off x="320040" y="22524912"/>
            <a:ext cx="1052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320040" y="23320440"/>
            <a:ext cx="1052424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Split: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70% train / 15% validation / 15% test, stratified by severity. Headline performance comes from full-dataset 5-fold CV; the test set is used only for SHAP.
</a:t>
            </a: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Balancing: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Five strategies were compared on the validation split — SMOTE-NC, ADASYN, </a:t>
            </a:r>
            <a:r>
              <a:rPr lang="en-US" sz="1850" dirty="0" err="1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SMOTETomek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, no resampling, and random </a:t>
            </a:r>
            <a:r>
              <a:rPr lang="en-US" sz="1850" dirty="0" err="1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undersampling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. For the headline 5-fold CV, SMOTE-NC was applied only within each training fold to prevent resampling leakage.
</a:t>
            </a: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Models: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Logistic Regression, Random Forest, Gradient Boosting, XGBoost, and a Neural Network, each evaluated with 5-fold stratified cross-validation.
</a:t>
            </a: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Tuning: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RandomizedSearchCV hyperparameter search on the strongest model, plus decision-threshold tuning to trade precision for Fatal recall.
</a:t>
            </a: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Explainability: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SHAP TreeExplainer was applied to the final XGBoost model using a sample from the held-out test set to examine global feature importance and individual predictions.
</a:t>
            </a: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Geospatial: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DBSCAN clustering (density-based, no need to pre-set a number of clusters) groups the 636 fatal-collision coordinates into 36 dense hotspot zones across the city.
</a:t>
            </a:r>
            <a:r>
              <a:rPr lang="en-US" sz="185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85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Python, scikit-learn, XGBoost, imbalanced-learn, SHAP, and DBSCAN - the full pipeline runs from raw CSVs to final explanations reproducibly, notebook by notebook.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320040" y="32008491"/>
            <a:ext cx="1052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Five-Phase Research Pipeline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320040" y="30635640"/>
            <a:ext cx="1973174" cy="1234440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0"/>
          <p:cNvSpPr/>
          <p:nvPr/>
        </p:nvSpPr>
        <p:spPr>
          <a:xfrm>
            <a:off x="320040" y="30635640"/>
            <a:ext cx="1973174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Merge Collisions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+ Weather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2293214" y="30635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457806" y="30635640"/>
            <a:ext cx="1973174" cy="1234440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6" name="Text 23"/>
          <p:cNvSpPr/>
          <p:nvPr/>
        </p:nvSpPr>
        <p:spPr>
          <a:xfrm>
            <a:off x="2457806" y="30635640"/>
            <a:ext cx="1973174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Clean Data +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430981" y="30635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595573" y="30635640"/>
            <a:ext cx="1973174" cy="1234440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26"/>
          <p:cNvSpPr/>
          <p:nvPr/>
        </p:nvSpPr>
        <p:spPr>
          <a:xfrm>
            <a:off x="4595573" y="30635640"/>
            <a:ext cx="1973174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Split + Balance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(5 strategies)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568747" y="30635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733339" y="30635640"/>
            <a:ext cx="1973174" cy="1234440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29"/>
          <p:cNvSpPr/>
          <p:nvPr/>
        </p:nvSpPr>
        <p:spPr>
          <a:xfrm>
            <a:off x="6733339" y="30635640"/>
            <a:ext cx="1973174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Train &amp; Tune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5 Models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8706514" y="30635640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871106" y="30635640"/>
            <a:ext cx="1973174" cy="1234440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5" name="Text 32"/>
          <p:cNvSpPr/>
          <p:nvPr/>
        </p:nvSpPr>
        <p:spPr>
          <a:xfrm>
            <a:off x="8871106" y="30635640"/>
            <a:ext cx="1973174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SHAP + DBSCAN</a:t>
            </a:r>
            <a:endParaRPr lang="en-US" sz="2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Explain Results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527200" y="11204160"/>
            <a:ext cx="10326960" cy="13534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4"/>
          <p:cNvSpPr/>
          <p:nvPr/>
        </p:nvSpPr>
        <p:spPr>
          <a:xfrm>
            <a:off x="11847240" y="11368752"/>
            <a:ext cx="977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4000" dirty="0"/>
          </a:p>
        </p:txBody>
      </p:sp>
      <p:sp>
        <p:nvSpPr>
          <p:cNvPr id="38" name="Text 35"/>
          <p:cNvSpPr/>
          <p:nvPr/>
        </p:nvSpPr>
        <p:spPr>
          <a:xfrm>
            <a:off x="11847240" y="12051052"/>
            <a:ext cx="9778320" cy="46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CA" sz="1600" b="1" dirty="0"/>
              <a:t>Model Performance — 5-Fold Cross-Validation</a:t>
            </a:r>
            <a:br>
              <a:rPr lang="en-CA" sz="1600" dirty="0"/>
            </a:br>
            <a:r>
              <a:rPr lang="en-CA" sz="1600" i="1" dirty="0"/>
              <a:t>Full dataset (677,056 records) • Corrected pipeline • Five models</a:t>
            </a:r>
            <a:endParaRPr lang="en-US" sz="1700" dirty="0"/>
          </a:p>
        </p:txBody>
      </p:sp>
      <p:pic>
        <p:nvPicPr>
          <p:cNvPr id="39" name="Image 1" descr="/home/claude/poster/img/model_comparison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8422" y="12530040"/>
            <a:ext cx="7235957" cy="3023885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1847240" y="15627077"/>
            <a:ext cx="9778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The central finding:  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correcting involvement-flag leakage and a SMOTE-NC encoding error substantially reduced apparent performance from an inflated 0.784 ROC-AUC. Under the corrected, leakage-free, correctly-encoded setup, all five model families show Fatal-class PR-AUC of 0.0010–0.0017, close in absolute terms to a 0.0009 prevalence reference - supporting limited Fatal-class separability under the current predictors and modelling setup, while not ruling out gains from richer predictors or other approaches. XGBoost leads F1 Macro (0.338) and accuracy (81.4%); Random Forest leads Fatal-class PR-AUC (0.0017): neither is an outright winner, and XGBoost still identifies </a:t>
            </a: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0 of 95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real Fatal collisions on the validation split.</a:t>
            </a:r>
            <a:endParaRPr lang="en-US" sz="1500" dirty="0"/>
          </a:p>
        </p:txBody>
      </p:sp>
      <p:sp>
        <p:nvSpPr>
          <p:cNvPr id="41" name="Text 37"/>
          <p:cNvSpPr/>
          <p:nvPr/>
        </p:nvSpPr>
        <p:spPr>
          <a:xfrm>
            <a:off x="11847240" y="17263356"/>
            <a:ext cx="977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Balancing and tuning don't fix this either:  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four of five strategies achieve 0% Fatal recall; only random undersampling recovers meaningful recall (41.1%), at the cost of accuracy collapsing to 37.3%. Lowering the threshold to 0.05 raises Fatal recall to 58.95%, but costs 38.5 accuracy points and precision falls to 0.11% - this study makes </a:t>
            </a:r>
            <a:r>
              <a:rPr lang="en-US" sz="1500" i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no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 deployment recommendation.</a:t>
            </a:r>
            <a:endParaRPr lang="en-US" sz="1500" dirty="0"/>
          </a:p>
        </p:txBody>
      </p:sp>
      <p:sp>
        <p:nvSpPr>
          <p:cNvPr id="42" name="Text 38"/>
          <p:cNvSpPr/>
          <p:nvPr/>
        </p:nvSpPr>
        <p:spPr>
          <a:xfrm>
            <a:off x="11847240" y="18126130"/>
            <a:ext cx="977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SHAP feature importance (left) and DBSCAN Fatal-collision map (right):</a:t>
            </a:r>
            <a:endParaRPr lang="en-US" sz="1600" dirty="0"/>
          </a:p>
        </p:txBody>
      </p:sp>
      <p:pic>
        <p:nvPicPr>
          <p:cNvPr id="43" name="Image 2" descr="/home/claude/poster/img/shap_global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0489" y="18850144"/>
            <a:ext cx="4297673" cy="3816307"/>
          </a:xfrm>
          <a:prstGeom prst="rect">
            <a:avLst/>
          </a:prstGeom>
        </p:spPr>
      </p:pic>
      <p:pic>
        <p:nvPicPr>
          <p:cNvPr id="44" name="Image 3" descr="/home/claude/poster/img/hotspot_map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6722" y="18708605"/>
            <a:ext cx="5538838" cy="4612057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1898007" y="23715492"/>
            <a:ext cx="977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is_weekend, OCC_YEAR, OCC_MONTH, neighbourhood frequency, and location</a:t>
            </a:r>
            <a:r>
              <a:rPr lang="en-US" sz="15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 lead the SHAP ranking - model </a:t>
            </a:r>
            <a:r>
              <a:rPr lang="en-US" sz="1500" i="1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5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, not validated risk factors, given the near-null Fatal PR-AUC. DBSCAN (eps = 300 m) identifies </a:t>
            </a:r>
            <a:r>
              <a:rPr lang="en-US" sz="1500" b="1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36 Fatal-collision hotspot clusters</a:t>
            </a:r>
            <a:r>
              <a:rPr lang="en-US" sz="15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 (large red dots), but 499 of 636 Fatal collisions (78.5%) are spatially isolated noise points, not part of any cluster - a descriptive spatial layer, not a comprehensive risk map.</a:t>
            </a:r>
            <a:endParaRPr lang="en-US" sz="1500" dirty="0"/>
          </a:p>
        </p:txBody>
      </p:sp>
      <p:sp>
        <p:nvSpPr>
          <p:cNvPr id="46" name="Shape 40"/>
          <p:cNvSpPr/>
          <p:nvPr/>
        </p:nvSpPr>
        <p:spPr>
          <a:xfrm>
            <a:off x="11527200" y="25383200"/>
            <a:ext cx="10326960" cy="7443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394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47" name="Text 41"/>
          <p:cNvSpPr/>
          <p:nvPr/>
        </p:nvSpPr>
        <p:spPr>
          <a:xfrm>
            <a:off x="11847240" y="25547792"/>
            <a:ext cx="977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2F84"/>
                </a:solidFill>
                <a:ea typeface="Times New Roman" pitchFamily="34" charset="-122"/>
                <a:cs typeface="Times New Roman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48" name="Text 42"/>
          <p:cNvSpPr/>
          <p:nvPr/>
        </p:nvSpPr>
        <p:spPr>
          <a:xfrm>
            <a:off x="11847240" y="26343320"/>
            <a:ext cx="977832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After correcting involvement-flag leakage and the SMOTE-NC encoding error, Fatal-class discrimination decreased substantially (PR-AUC 0.0010–0.0017, close in absolute terms to the approximate Fatal-prevalence reference level </a:t>
            </a:r>
            <a:r>
              <a:rPr lang="en-US" sz="150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of 0.0009). 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The corrected results indicate the earlier strong-looking performance (0.784 ROC-AUC) was substantially inflated by these methodological issues.
</a:t>
            </a: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XGBoost leads on F1 Macro (0.338) and accuracy (81.4%); Random Forest leads on Fatal-class PR-AUC (0.0017) - neither is an outright winner, and even XGBoost still identifies 0 of 95 real Fatal collisions on the validation split.
</a:t>
            </a: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Balancing and threshold tuning do not resolve this: only aggressive undersampling recovers meaningful Fatal recall, and only by sacrificing most of the model's accuracy; hyperparameter tuning can actively hurt Fatal-class detection.
</a:t>
            </a: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•  </a:t>
            </a:r>
            <a:r>
              <a:rPr lang="en-CA" sz="1500" dirty="0">
                <a:ea typeface="Calibri" panose="020F0502020204030204" pitchFamily="34" charset="0"/>
                <a:cs typeface="Calibri" panose="020F0502020204030204" pitchFamily="34" charset="0"/>
              </a:rPr>
              <a:t>DBSCAN clustering — unaffected by the leakage and encoding issues above — provides a complementary descriptive spatial analysis: 36 Fatal-collision hotspot clusters were identified across Toronto, including areas around Wexford/Maryvale, West Humber-</a:t>
            </a:r>
            <a:r>
              <a:rPr lang="en-CA" sz="1500" dirty="0" err="1">
                <a:ea typeface="Calibri" panose="020F0502020204030204" pitchFamily="34" charset="0"/>
                <a:cs typeface="Calibri" panose="020F0502020204030204" pitchFamily="34" charset="0"/>
              </a:rPr>
              <a:t>Clairville</a:t>
            </a:r>
            <a:r>
              <a:rPr lang="en-CA" sz="1500" dirty="0">
                <a:ea typeface="Calibri" panose="020F0502020204030204" pitchFamily="34" charset="0"/>
                <a:cs typeface="Calibri" panose="020F0502020204030204" pitchFamily="34" charset="0"/>
              </a:rPr>
              <a:t>, and South Parkdale, while most Fatal collisions remain spatially </a:t>
            </a:r>
            <a:r>
              <a:rPr lang="en-CA" sz="1500" dirty="0" err="1">
                <a:ea typeface="Calibri" panose="020F0502020204030204" pitchFamily="34" charset="0"/>
                <a:cs typeface="Calibri" panose="020F0502020204030204" pitchFamily="34" charset="0"/>
              </a:rPr>
              <a:t>unclustered</a:t>
            </a:r>
            <a:r>
              <a:rPr lang="en-CA" sz="1500" dirty="0">
                <a:ea typeface="Calibri" panose="020F0502020204030204" pitchFamily="34" charset="0"/>
                <a:cs typeface="Calibri" panose="020F0502020204030204" pitchFamily="34" charset="0"/>
              </a:rPr>
              <a:t> (noise).</a:t>
            </a:r>
          </a:p>
          <a:p>
            <a:pPr>
              <a:lnSpc>
                <a:spcPct val="100000"/>
              </a:lnSpc>
            </a:pPr>
            <a:endParaRPr lang="en-US" sz="15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Limitations:  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22222"/>
                </a:solidFill>
                <a:ea typeface="Calibri" pitchFamily="34" charset="-122"/>
                <a:cs typeface="Calibri" pitchFamily="34" charset="-120"/>
              </a:rPr>
              <a:t>Fatal collisions remain extremely rare (636 records); a single weather station limits hyperlocal precision; invalid-GPS rate differs by class (16.91% Minor, 12.56% Major, 4.50% Fatal); and the headline CV is not a strictly independent, nested estimate relative to the validation-split selection decisions.</a:t>
            </a:r>
            <a:endParaRPr lang="en-US" sz="1500" dirty="0"/>
          </a:p>
        </p:txBody>
      </p:sp>
      <p:sp>
        <p:nvSpPr>
          <p:cNvPr id="49" name="Text 43"/>
          <p:cNvSpPr/>
          <p:nvPr/>
        </p:nvSpPr>
        <p:spPr>
          <a:xfrm>
            <a:off x="11847240" y="31006760"/>
            <a:ext cx="977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02F84"/>
                </a:solidFill>
                <a:ea typeface="Calibri" pitchFamily="34" charset="-122"/>
                <a:cs typeface="Calibri" pitchFamily="34" charset="-120"/>
              </a:rPr>
              <a:t>KEY NUMBERS </a:t>
            </a:r>
            <a:endParaRPr lang="en-US" sz="1400" dirty="0"/>
          </a:p>
        </p:txBody>
      </p:sp>
      <p:sp>
        <p:nvSpPr>
          <p:cNvPr id="50" name="Shape 44"/>
          <p:cNvSpPr/>
          <p:nvPr/>
        </p:nvSpPr>
        <p:spPr>
          <a:xfrm>
            <a:off x="11847240" y="31445672"/>
            <a:ext cx="2238840" cy="1199208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1" name="Text 45"/>
          <p:cNvSpPr/>
          <p:nvPr/>
        </p:nvSpPr>
        <p:spPr>
          <a:xfrm>
            <a:off x="11847240" y="31445672"/>
            <a:ext cx="2238840" cy="1199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0.338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- F1 Macro</a:t>
            </a:r>
            <a:endParaRPr lang="en-US" sz="2600" dirty="0"/>
          </a:p>
        </p:txBody>
      </p:sp>
      <p:sp>
        <p:nvSpPr>
          <p:cNvPr id="52" name="Shape 46"/>
          <p:cNvSpPr/>
          <p:nvPr/>
        </p:nvSpPr>
        <p:spPr>
          <a:xfrm>
            <a:off x="14360400" y="31445672"/>
            <a:ext cx="2238840" cy="1199208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3" name="Text 47"/>
          <p:cNvSpPr/>
          <p:nvPr/>
        </p:nvSpPr>
        <p:spPr>
          <a:xfrm>
            <a:off x="14360400" y="31445672"/>
            <a:ext cx="2238840" cy="1199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0.0017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Random Forest - Fatal PR-AUC</a:t>
            </a:r>
            <a:endParaRPr lang="en-US" sz="2600" dirty="0"/>
          </a:p>
        </p:txBody>
      </p:sp>
      <p:sp>
        <p:nvSpPr>
          <p:cNvPr id="54" name="Shape 48"/>
          <p:cNvSpPr/>
          <p:nvPr/>
        </p:nvSpPr>
        <p:spPr>
          <a:xfrm>
            <a:off x="16873560" y="31445672"/>
            <a:ext cx="2238840" cy="1199208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5" name="Text 49"/>
          <p:cNvSpPr/>
          <p:nvPr/>
        </p:nvSpPr>
        <p:spPr>
          <a:xfrm>
            <a:off x="16873560" y="31445672"/>
            <a:ext cx="2238840" cy="1199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0 / 95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XGBoost Fatal Recall</a:t>
            </a:r>
            <a:endParaRPr lang="en-US" sz="2600" dirty="0"/>
          </a:p>
        </p:txBody>
      </p:sp>
      <p:sp>
        <p:nvSpPr>
          <p:cNvPr id="56" name="Shape 50"/>
          <p:cNvSpPr/>
          <p:nvPr/>
        </p:nvSpPr>
        <p:spPr>
          <a:xfrm>
            <a:off x="19386720" y="31445672"/>
            <a:ext cx="2238840" cy="1199208"/>
          </a:xfrm>
          <a:prstGeom prst="rect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7" name="Text 51"/>
          <p:cNvSpPr/>
          <p:nvPr/>
        </p:nvSpPr>
        <p:spPr>
          <a:xfrm>
            <a:off x="19386720" y="31445672"/>
            <a:ext cx="2238840" cy="11992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D69A00"/>
                </a:solidFill>
                <a:ea typeface="Calibri" pitchFamily="34" charset="-122"/>
                <a:cs typeface="Calibri" pitchFamily="34" charset="-120"/>
              </a:rPr>
              <a:t>36</a:t>
            </a:r>
            <a:endParaRPr lang="en-US" sz="2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DBSCAN Hotspot Zones</a:t>
            </a:r>
            <a:endParaRPr lang="en-US" sz="26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24D0FD1-A733-9D76-D8AC-7A9D6FBAF1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5334" y="150387"/>
            <a:ext cx="4175760" cy="27142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1224</Words>
  <Application>Microsoft Office PowerPoint</Application>
  <PresentationFormat>Custom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Nishrut Patel</cp:lastModifiedBy>
  <cp:revision>6</cp:revision>
  <dcterms:created xsi:type="dcterms:W3CDTF">2026-08-24T21:39:14Z</dcterms:created>
  <dcterms:modified xsi:type="dcterms:W3CDTF">2026-08-24T22:20:38Z</dcterms:modified>
</cp:coreProperties>
</file>